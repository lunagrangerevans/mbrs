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media/panel_1.png" ContentType="image/png"/>
  <ns0:Override PartName="/ppt/media/panel_2.png" ContentType="image/png"/>
  <ns0:Override PartName="/ppt/media/panel_3.png" ContentType="image/png"/>
  <ns0:Override PartName="/ppt/media/panel_4.png" ContentType="image/png"/>
  <ns0:Override PartName="/ppt/media/panel_5.png" ContentType="image/png"/>
  <ns0:Override PartName="/ppt/media/panel_6.png" ContentType="image/png"/>
  <ns0:Override PartName="/ppt/media/panel_7.png" ContentType="image/png"/>
  <ns0:Override PartName="/ppt/media/panel_8.png" ContentType="image/png"/>
  <ns0:Override PartName="/ppt/media/panel_9.png" ContentType="image/png"/>
  <ns0:Override PartName="/ppt/media/panel_10.png" ContentType="image/png"/>
  <ns0:Override PartName="/ppt/media/panel_11.png" ContentType="image/png"/>
  <ns0:Override PartName="/ppt/media/panel_12.png" ContentType="image/png"/>
  <ns0:Override PartName="/ppt/media/panel_13.png" ContentType="image/png"/>
  <ns0:Override PartName="/ppt/media/panel_14.png" ContentType="image/png"/>
  <ns0:Override PartName="/ppt/media/panel_15.png" ContentType="image/png"/>
  <ns0:Override PartName="/ppt/media/panel_16.png" ContentType="image/png"/>
  <ns0:Override PartName="/ppt/media/panel_17.png" ContentType="image/png"/>
  <ns0:Override PartName="/ppt/media/panel_18.png" ContentType="image/png"/>
  <ns0:Override PartName="/ppt/media/panel_19.png" ContentType="image/png"/>
  <ns0:Override PartName="/ppt/media/panel_20.png" ContentType="image/png"/>
  <ns0:Override PartName="/ppt/media/panel_21.png" ContentType="image/png"/>
  <ns0:Override PartName="/ppt/media/panel_22.png" ContentType="image/png"/>
  <ns0:Override PartName="/ppt/media/panel_23.png" ContentType="image/png"/>
  <ns0:Override PartName="/ppt/media/panel_24.png" ContentType="image/png"/>
  <ns0:Override PartName="/ppt/media/panel_25.png" ContentType="image/png"/>
  <ns0:Override PartName="/ppt/media/panel_26.png" ContentType="image/png"/>
  <ns0:Override PartName="/ppt/media/panel_27.png" ContentType="image/png"/>
  <ns0:Override PartName="/ppt/media/panel_28.png" ContentType="image/png"/>
  <ns0:Override PartName="/ppt/media/panel_29.png" ContentType="image/png"/>
  <ns0:Override PartName="/ppt/media/panel_30.png" ContentType="image/png"/>
  <ns0:Override PartName="/ppt/presentation.xml" ContentType="application/vnd.openxmlformats-officedocument.presentationml.presentation.main+xml"/>
  <ns0:Override PartName="/ppt/slides/slide1.xml" ContentType="application/vnd.openxmlformats-officedocument.presentationml.slide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theme/theme1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'1.0' encoding='utf-8'?>
<ns0:Relationships xmlns:ns0="http://schemas.openxmlformats.org/package/2006/relationships"><ns0:Relationship Id="rId1" Type="http://schemas.openxmlformats.org/package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package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1695" cy="6858000" type="screen16x9"/>
  <p:notesSz cx="9144000" cy="6858000"/>
  <p:defaultTextStyle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matchingName="Blank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theme" Target="../theme/theme1.xml" /></ns0: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/>
  <p:txStyles/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panel_1.png" /><ns0:Relationship Id="rId3" Type="http://schemas.openxmlformats.org/officeDocument/2006/relationships/image" Target="../media/panel_2.png" /><ns0:Relationship Id="rId4" Type="http://schemas.openxmlformats.org/officeDocument/2006/relationships/image" Target="../media/panel_3.png" /><ns0:Relationship Id="rId5" Type="http://schemas.openxmlformats.org/officeDocument/2006/relationships/image" Target="../media/panel_4.png" /><ns0:Relationship Id="rId6" Type="http://schemas.openxmlformats.org/officeDocument/2006/relationships/image" Target="../media/panel_5.png" /><ns0:Relationship Id="rId7" Type="http://schemas.openxmlformats.org/officeDocument/2006/relationships/image" Target="../media/panel_6.png" /><ns0:Relationship Id="rId8" Type="http://schemas.openxmlformats.org/officeDocument/2006/relationships/image" Target="../media/panel_7.png" /><ns0:Relationship Id="rId9" Type="http://schemas.openxmlformats.org/officeDocument/2006/relationships/image" Target="../media/panel_8.png" /><ns0:Relationship Id="rId10" Type="http://schemas.openxmlformats.org/officeDocument/2006/relationships/image" Target="../media/panel_9.png" /><ns0:Relationship Id="rId11" Type="http://schemas.openxmlformats.org/officeDocument/2006/relationships/image" Target="../media/panel_10.png" /><ns0:Relationship Id="rId12" Type="http://schemas.openxmlformats.org/officeDocument/2006/relationships/image" Target="../media/panel_11.png" /><ns0:Relationship Id="rId13" Type="http://schemas.openxmlformats.org/officeDocument/2006/relationships/image" Target="../media/panel_12.png" /><ns0:Relationship Id="rId14" Type="http://schemas.openxmlformats.org/officeDocument/2006/relationships/image" Target="../media/panel_13.png" /><ns0:Relationship Id="rId15" Type="http://schemas.openxmlformats.org/officeDocument/2006/relationships/image" Target="../media/panel_14.png" /><ns0:Relationship Id="rId16" Type="http://schemas.openxmlformats.org/officeDocument/2006/relationships/image" Target="../media/panel_15.png" /><ns0:Relationship Id="rId17" Type="http://schemas.openxmlformats.org/officeDocument/2006/relationships/image" Target="../media/panel_16.png" /><ns0:Relationship Id="rId18" Type="http://schemas.openxmlformats.org/officeDocument/2006/relationships/image" Target="../media/panel_17.png" /><ns0:Relationship Id="rId19" Type="http://schemas.openxmlformats.org/officeDocument/2006/relationships/image" Target="../media/panel_18.png" /><ns0:Relationship Id="rId20" Type="http://schemas.openxmlformats.org/officeDocument/2006/relationships/image" Target="../media/panel_19.png" /><ns0:Relationship Id="rId21" Type="http://schemas.openxmlformats.org/officeDocument/2006/relationships/image" Target="../media/panel_20.png" /><ns0:Relationship Id="rId22" Type="http://schemas.openxmlformats.org/officeDocument/2006/relationships/image" Target="../media/panel_21.png" /><ns0:Relationship Id="rId23" Type="http://schemas.openxmlformats.org/officeDocument/2006/relationships/image" Target="../media/panel_22.png" /><ns0:Relationship Id="rId24" Type="http://schemas.openxmlformats.org/officeDocument/2006/relationships/image" Target="../media/panel_23.png" /><ns0:Relationship Id="rId25" Type="http://schemas.openxmlformats.org/officeDocument/2006/relationships/image" Target="../media/panel_24.png" /><ns0:Relationship Id="rId26" Type="http://schemas.openxmlformats.org/officeDocument/2006/relationships/image" Target="../media/panel_25.png" /><ns0:Relationship Id="rId27" Type="http://schemas.openxmlformats.org/officeDocument/2006/relationships/image" Target="../media/panel_26.png" /><ns0:Relationship Id="rId28" Type="http://schemas.openxmlformats.org/officeDocument/2006/relationships/image" Target="../media/panel_27.png" /><ns0:Relationship Id="rId29" Type="http://schemas.openxmlformats.org/officeDocument/2006/relationships/image" Target="../media/panel_28.png" /><ns0:Relationship Id="rId30" Type="http://schemas.openxmlformats.org/officeDocument/2006/relationships/image" Target="../media/panel_29.png" /><ns0:Relationship Id="rId31" Type="http://schemas.openxmlformats.org/officeDocument/2006/relationships/image" Target="../media/panel_30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 showMasterPhAnim="1">
  <p:cSld>
    <p:spTree>
      <p:nvGrpSpPr>
        <p:cNvPr id="1" name=""/>
        <p:cNvGrpSpPr/>
        <p:nvPr/>
      </p:nvGrpSpPr>
      <p:grpSpPr/>
      <p:sp>
        <p:nvSpPr>
          <p:cNvPr id="2" name="Text 2"/>
          <p:cNvSpPr/>
          <p:nvPr/>
        </p:nvSpPr>
        <p:spPr>
          <a:xfrm>
            <a:off x="960120" y="91440"/>
            <a:ext cx="11103559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202934"/>
                </a:solidFill>
                <a:latin typeface="Arial"/>
              </a:rPr>
              <a:t>Figure 2 — matched-PSNR qualitative comparison</a:t>
            </a:r>
            <a:endParaRPr lang="en-US" sz="1200"/>
          </a:p>
        </p:txBody>
      </p:sp>
      <p:sp>
        <p:nvSpPr>
          <p:cNvPr id="3" name="Text 3"/>
          <p:cNvSpPr/>
          <p:nvPr/>
        </p:nvSpPr>
        <p:spPr>
          <a:xfrm>
            <a:off x="1593845" y="365760"/>
            <a:ext cx="88011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202934"/>
                </a:solidFill>
                <a:latin typeface="Arial"/>
              </a:rPr>
              <a:t>Original</a:t>
            </a:r>
            <a:endParaRPr lang="en-US" sz="700"/>
          </a:p>
        </p:txBody>
      </p:sp>
      <p:sp>
        <p:nvSpPr>
          <p:cNvPr id="4" name="Text 4"/>
          <p:cNvSpPr/>
          <p:nvPr/>
        </p:nvSpPr>
        <p:spPr>
          <a:xfrm>
            <a:off x="3832845" y="365760"/>
            <a:ext cx="88011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202934"/>
                </a:solidFill>
                <a:latin typeface="Arial"/>
              </a:rPr>
              <a:t>HiDDeN-64</a:t>
            </a:r>
            <a:endParaRPr lang="en-US" sz="700"/>
          </a:p>
        </p:txBody>
      </p:sp>
      <p:sp>
        <p:nvSpPr>
          <p:cNvPr id="5" name="Text 5"/>
          <p:cNvSpPr/>
          <p:nvPr/>
        </p:nvSpPr>
        <p:spPr>
          <a:xfrm>
            <a:off x="6071845" y="365760"/>
            <a:ext cx="88011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202934"/>
                </a:solidFill>
                <a:latin typeface="Arial"/>
              </a:rPr>
              <a:t>MaskWM-D_64</a:t>
            </a:r>
            <a:endParaRPr lang="en-US" sz="700"/>
          </a:p>
        </p:txBody>
      </p:sp>
      <p:sp>
        <p:nvSpPr>
          <p:cNvPr id="6" name="Text 6"/>
          <p:cNvSpPr/>
          <p:nvPr/>
        </p:nvSpPr>
        <p:spPr>
          <a:xfrm>
            <a:off x="8310844" y="365760"/>
            <a:ext cx="88011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202934"/>
                </a:solidFill>
                <a:latin typeface="Arial"/>
              </a:rPr>
              <a:t>MBRS crop-trained global</a:t>
            </a:r>
            <a:endParaRPr lang="en-US" sz="700"/>
          </a:p>
        </p:txBody>
      </p:sp>
      <p:sp>
        <p:nvSpPr>
          <p:cNvPr id="7" name="Text 7"/>
          <p:cNvSpPr/>
          <p:nvPr/>
        </p:nvSpPr>
        <p:spPr>
          <a:xfrm>
            <a:off x="10549844" y="365760"/>
            <a:ext cx="88011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700" b="1">
                <a:solidFill>
                  <a:srgbClr val="202934"/>
                </a:solidFill>
                <a:latin typeface="Arial"/>
              </a:rPr>
              <a:t>Ours = Hard Local-Tail + global OKLab</a:t>
            </a:r>
            <a:endParaRPr lang="en-US" sz="700"/>
          </a:p>
        </p:txBody>
      </p:sp>
      <p:sp>
        <p:nvSpPr>
          <p:cNvPr id="8" name="Text 8"/>
          <p:cNvSpPr/>
          <p:nvPr/>
        </p:nvSpPr>
        <p:spPr>
          <a:xfrm>
            <a:off x="27432" y="822960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Sample 1</a:t>
            </a:r>
            <a:endParaRPr lang="en-US" sz="700"/>
          </a:p>
        </p:txBody>
      </p:sp>
      <p:pic>
        <p:nvPicPr>
          <p:cNvPr id="9" name="Original sample 1 full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93845" y="822960"/>
            <a:ext cx="880110" cy="880110"/>
          </a:xfrm>
          <a:prstGeom prst="rect">
            <a:avLst/>
          </a:prstGeom>
        </p:spPr>
      </p:pic>
      <p:sp>
        <p:nvSpPr>
          <p:cNvPr id="10" name="ROI outline 10"/>
          <p:cNvSpPr/>
          <p:nvPr/>
        </p:nvSpPr>
        <p:spPr>
          <a:xfrm>
            <a:off x="1923886" y="101548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11" name="HiDDeN-64 sample 1 full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832845" y="822960"/>
            <a:ext cx="880110" cy="880110"/>
          </a:xfrm>
          <a:prstGeom prst="rect">
            <a:avLst/>
          </a:prstGeom>
        </p:spPr>
      </p:pic>
      <p:sp>
        <p:nvSpPr>
          <p:cNvPr id="12" name="ROI outline 12"/>
          <p:cNvSpPr/>
          <p:nvPr/>
        </p:nvSpPr>
        <p:spPr>
          <a:xfrm>
            <a:off x="4162886" y="101548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13" name="MaskWM-D_64 sample 1 full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071845" y="822960"/>
            <a:ext cx="880110" cy="880110"/>
          </a:xfrm>
          <a:prstGeom prst="rect">
            <a:avLst/>
          </a:prstGeom>
        </p:spPr>
      </p:pic>
      <p:sp>
        <p:nvSpPr>
          <p:cNvPr id="14" name="ROI outline 14"/>
          <p:cNvSpPr/>
          <p:nvPr/>
        </p:nvSpPr>
        <p:spPr>
          <a:xfrm>
            <a:off x="6401886" y="101548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15" name="MBRS crop-trained global sample 1 full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310844" y="822960"/>
            <a:ext cx="880110" cy="880110"/>
          </a:xfrm>
          <a:prstGeom prst="rect">
            <a:avLst/>
          </a:prstGeom>
        </p:spPr>
      </p:pic>
      <p:sp>
        <p:nvSpPr>
          <p:cNvPr id="16" name="ROI outline 16"/>
          <p:cNvSpPr/>
          <p:nvPr/>
        </p:nvSpPr>
        <p:spPr>
          <a:xfrm>
            <a:off x="8640886" y="101548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17" name="Ours = Hard Local-Tail + global OKLab sample 1 full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10549844" y="822960"/>
            <a:ext cx="880110" cy="880110"/>
          </a:xfrm>
          <a:prstGeom prst="rect">
            <a:avLst/>
          </a:prstGeom>
        </p:spPr>
      </p:pic>
      <p:sp>
        <p:nvSpPr>
          <p:cNvPr id="18" name="ROI outline 18"/>
          <p:cNvSpPr/>
          <p:nvPr/>
        </p:nvSpPr>
        <p:spPr>
          <a:xfrm>
            <a:off x="10879886" y="101548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27432" y="1753362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Zoom</a:t>
            </a:r>
            <a:endParaRPr lang="en-US" sz="700"/>
          </a:p>
        </p:txBody>
      </p:sp>
      <p:pic>
        <p:nvPicPr>
          <p:cNvPr id="20" name="Original sample 1 zoom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1593845" y="1753362"/>
            <a:ext cx="880110" cy="880110"/>
          </a:xfrm>
          <a:prstGeom prst="rect">
            <a:avLst/>
          </a:prstGeom>
        </p:spPr>
      </p:pic>
      <p:pic>
        <p:nvPicPr>
          <p:cNvPr id="21" name="HiDDeN-64 sample 1 zoom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3832845" y="1753362"/>
            <a:ext cx="880110" cy="880110"/>
          </a:xfrm>
          <a:prstGeom prst="rect">
            <a:avLst/>
          </a:prstGeom>
        </p:spPr>
      </p:pic>
      <p:pic>
        <p:nvPicPr>
          <p:cNvPr id="22" name="MaskWM-D_64 sample 1 zoom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6071845" y="1753362"/>
            <a:ext cx="880110" cy="880110"/>
          </a:xfrm>
          <a:prstGeom prst="rect">
            <a:avLst/>
          </a:prstGeom>
        </p:spPr>
      </p:pic>
      <p:pic>
        <p:nvPicPr>
          <p:cNvPr id="23" name="MBRS crop-trained global sample 1 zoom"/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8310844" y="1753362"/>
            <a:ext cx="880110" cy="880110"/>
          </a:xfrm>
          <a:prstGeom prst="rect">
            <a:avLst/>
          </a:prstGeom>
        </p:spPr>
      </p:pic>
      <p:pic>
        <p:nvPicPr>
          <p:cNvPr id="24" name="Ours = Hard Local-Tail + global OKLab sample 1 zoom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10549844" y="1753362"/>
            <a:ext cx="880110" cy="880110"/>
          </a:xfrm>
          <a:prstGeom prst="rect">
            <a:avLst/>
          </a:prstGeom>
        </p:spPr>
      </p:pic>
      <p:sp>
        <p:nvSpPr>
          <p:cNvPr id="25" name="Text 25"/>
          <p:cNvSpPr/>
          <p:nvPr/>
        </p:nvSpPr>
        <p:spPr>
          <a:xfrm>
            <a:off x="27432" y="2683764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Residual ×10</a:t>
            </a:r>
            <a:endParaRPr lang="en-US" sz="700"/>
          </a:p>
        </p:txBody>
      </p:sp>
      <p:pic>
        <p:nvPicPr>
          <p:cNvPr id="26" name="Original sample 1 residual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1593845" y="2683764"/>
            <a:ext cx="880110" cy="880110"/>
          </a:xfrm>
          <a:prstGeom prst="rect">
            <a:avLst/>
          </a:prstGeom>
        </p:spPr>
      </p:pic>
      <p:pic>
        <p:nvPicPr>
          <p:cNvPr id="27" name="HiDDeN-64 sample 1 residual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3832845" y="2683764"/>
            <a:ext cx="880110" cy="880110"/>
          </a:xfrm>
          <a:prstGeom prst="rect">
            <a:avLst/>
          </a:prstGeom>
        </p:spPr>
      </p:pic>
      <p:pic>
        <p:nvPicPr>
          <p:cNvPr id="28" name="MaskWM-D_64 sample 1 residual"/>
          <p:cNvPicPr preferRelativeResize="0"/>
          <p:nvPr/>
        </p:nvPicPr>
        <p:blipFill>
          <a:blip r:embed="rId14"/>
          <a:stretch>
            <a:fillRect/>
          </a:stretch>
        </p:blipFill>
        <p:spPr>
          <a:xfrm>
            <a:off x="6071845" y="2683764"/>
            <a:ext cx="880110" cy="880110"/>
          </a:xfrm>
          <a:prstGeom prst="rect">
            <a:avLst/>
          </a:prstGeom>
        </p:spPr>
      </p:pic>
      <p:pic>
        <p:nvPicPr>
          <p:cNvPr id="29" name="MBRS crop-trained global sample 1 residual"/>
          <p:cNvPicPr preferRelativeResize="0"/>
          <p:nvPr/>
        </p:nvPicPr>
        <p:blipFill>
          <a:blip r:embed="rId15"/>
          <a:stretch>
            <a:fillRect/>
          </a:stretch>
        </p:blipFill>
        <p:spPr>
          <a:xfrm>
            <a:off x="8310844" y="2683764"/>
            <a:ext cx="880110" cy="880110"/>
          </a:xfrm>
          <a:prstGeom prst="rect">
            <a:avLst/>
          </a:prstGeom>
        </p:spPr>
      </p:pic>
      <p:pic>
        <p:nvPicPr>
          <p:cNvPr id="30" name="Ours = Hard Local-Tail + global OKLab sample 1 residual"/>
          <p:cNvPicPr preferRelativeResize="0"/>
          <p:nvPr/>
        </p:nvPicPr>
        <p:blipFill>
          <a:blip r:embed="rId16"/>
          <a:stretch>
            <a:fillRect/>
          </a:stretch>
        </p:blipFill>
        <p:spPr>
          <a:xfrm>
            <a:off x="10549844" y="2683764"/>
            <a:ext cx="880110" cy="880110"/>
          </a:xfrm>
          <a:prstGeom prst="rect">
            <a:avLst/>
          </a:prstGeom>
        </p:spPr>
      </p:pic>
      <p:sp>
        <p:nvSpPr>
          <p:cNvPr id="31" name="Text 31"/>
          <p:cNvSpPr/>
          <p:nvPr/>
        </p:nvSpPr>
        <p:spPr>
          <a:xfrm>
            <a:off x="27432" y="3614166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Sample 2</a:t>
            </a:r>
            <a:endParaRPr lang="en-US" sz="700"/>
          </a:p>
        </p:txBody>
      </p:sp>
      <p:pic>
        <p:nvPicPr>
          <p:cNvPr id="32" name="Original sample 2 full"/>
          <p:cNvPicPr preferRelativeResize="0"/>
          <p:nvPr/>
        </p:nvPicPr>
        <p:blipFill>
          <a:blip r:embed="rId17"/>
          <a:stretch>
            <a:fillRect/>
          </a:stretch>
        </p:blipFill>
        <p:spPr>
          <a:xfrm>
            <a:off x="1593845" y="3614166"/>
            <a:ext cx="880110" cy="880110"/>
          </a:xfrm>
          <a:prstGeom prst="rect">
            <a:avLst/>
          </a:prstGeom>
        </p:spPr>
      </p:pic>
      <p:sp>
        <p:nvSpPr>
          <p:cNvPr id="33" name="ROI outline 33"/>
          <p:cNvSpPr/>
          <p:nvPr/>
        </p:nvSpPr>
        <p:spPr>
          <a:xfrm>
            <a:off x="2171417" y="383419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34" name="HiDDeN-64 sample 2 full"/>
          <p:cNvPicPr preferRelativeResize="0"/>
          <p:nvPr/>
        </p:nvPicPr>
        <p:blipFill>
          <a:blip r:embed="rId18"/>
          <a:stretch>
            <a:fillRect/>
          </a:stretch>
        </p:blipFill>
        <p:spPr>
          <a:xfrm>
            <a:off x="3832845" y="3614166"/>
            <a:ext cx="880110" cy="880110"/>
          </a:xfrm>
          <a:prstGeom prst="rect">
            <a:avLst/>
          </a:prstGeom>
        </p:spPr>
      </p:pic>
      <p:sp>
        <p:nvSpPr>
          <p:cNvPr id="35" name="ROI outline 35"/>
          <p:cNvSpPr/>
          <p:nvPr/>
        </p:nvSpPr>
        <p:spPr>
          <a:xfrm>
            <a:off x="4410417" y="383419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36" name="MaskWM-D_64 sample 2 full"/>
          <p:cNvPicPr preferRelativeResize="0"/>
          <p:nvPr/>
        </p:nvPicPr>
        <p:blipFill>
          <a:blip r:embed="rId19"/>
          <a:stretch>
            <a:fillRect/>
          </a:stretch>
        </p:blipFill>
        <p:spPr>
          <a:xfrm>
            <a:off x="6071845" y="3614166"/>
            <a:ext cx="880110" cy="880110"/>
          </a:xfrm>
          <a:prstGeom prst="rect">
            <a:avLst/>
          </a:prstGeom>
        </p:spPr>
      </p:pic>
      <p:sp>
        <p:nvSpPr>
          <p:cNvPr id="37" name="ROI outline 37"/>
          <p:cNvSpPr/>
          <p:nvPr/>
        </p:nvSpPr>
        <p:spPr>
          <a:xfrm>
            <a:off x="6649417" y="383419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38" name="MBRS crop-trained global sample 2 full"/>
          <p:cNvPicPr preferRelativeResize="0"/>
          <p:nvPr/>
        </p:nvPicPr>
        <p:blipFill>
          <a:blip r:embed="rId20"/>
          <a:stretch>
            <a:fillRect/>
          </a:stretch>
        </p:blipFill>
        <p:spPr>
          <a:xfrm>
            <a:off x="8310844" y="3614166"/>
            <a:ext cx="880110" cy="880110"/>
          </a:xfrm>
          <a:prstGeom prst="rect">
            <a:avLst/>
          </a:prstGeom>
        </p:spPr>
      </p:pic>
      <p:sp>
        <p:nvSpPr>
          <p:cNvPr id="39" name="ROI outline 39"/>
          <p:cNvSpPr/>
          <p:nvPr/>
        </p:nvSpPr>
        <p:spPr>
          <a:xfrm>
            <a:off x="8888417" y="383419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pic>
        <p:nvPicPr>
          <p:cNvPr id="40" name="Ours = Hard Local-Tail + global OKLab sample 2 full"/>
          <p:cNvPicPr preferRelativeResize="0"/>
          <p:nvPr/>
        </p:nvPicPr>
        <p:blipFill>
          <a:blip r:embed="rId21"/>
          <a:stretch>
            <a:fillRect/>
          </a:stretch>
        </p:blipFill>
        <p:spPr>
          <a:xfrm>
            <a:off x="10549844" y="3614166"/>
            <a:ext cx="880110" cy="880110"/>
          </a:xfrm>
          <a:prstGeom prst="rect">
            <a:avLst/>
          </a:prstGeom>
        </p:spPr>
      </p:pic>
      <p:sp>
        <p:nvSpPr>
          <p:cNvPr id="41" name="ROI outline 41"/>
          <p:cNvSpPr/>
          <p:nvPr/>
        </p:nvSpPr>
        <p:spPr>
          <a:xfrm>
            <a:off x="11127416" y="3834194"/>
            <a:ext cx="220027" cy="220027"/>
          </a:xfrm>
          <a:prstGeom prst="rect">
            <a:avLst/>
          </a:prstGeom>
          <a:noFill/>
          <a:ln w="11430">
            <a:solidFill>
              <a:srgbClr val="E5483C"/>
            </a:solidFill>
            <a:prstDash val="solid"/>
          </a:ln>
        </p:spPr>
      </p:sp>
      <p:sp>
        <p:nvSpPr>
          <p:cNvPr id="42" name="Text 42"/>
          <p:cNvSpPr/>
          <p:nvPr/>
        </p:nvSpPr>
        <p:spPr>
          <a:xfrm>
            <a:off x="27432" y="4544568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Zoom</a:t>
            </a:r>
            <a:endParaRPr lang="en-US" sz="700"/>
          </a:p>
        </p:txBody>
      </p:sp>
      <p:pic>
        <p:nvPicPr>
          <p:cNvPr id="43" name="Original sample 2 zoom"/>
          <p:cNvPicPr preferRelativeResize="0"/>
          <p:nvPr/>
        </p:nvPicPr>
        <p:blipFill>
          <a:blip r:embed="rId22"/>
          <a:stretch>
            <a:fillRect/>
          </a:stretch>
        </p:blipFill>
        <p:spPr>
          <a:xfrm>
            <a:off x="1593845" y="4544568"/>
            <a:ext cx="880110" cy="880110"/>
          </a:xfrm>
          <a:prstGeom prst="rect">
            <a:avLst/>
          </a:prstGeom>
        </p:spPr>
      </p:pic>
      <p:pic>
        <p:nvPicPr>
          <p:cNvPr id="44" name="HiDDeN-64 sample 2 zoom"/>
          <p:cNvPicPr preferRelativeResize="0"/>
          <p:nvPr/>
        </p:nvPicPr>
        <p:blipFill>
          <a:blip r:embed="rId23"/>
          <a:stretch>
            <a:fillRect/>
          </a:stretch>
        </p:blipFill>
        <p:spPr>
          <a:xfrm>
            <a:off x="3832845" y="4544568"/>
            <a:ext cx="880110" cy="880110"/>
          </a:xfrm>
          <a:prstGeom prst="rect">
            <a:avLst/>
          </a:prstGeom>
        </p:spPr>
      </p:pic>
      <p:pic>
        <p:nvPicPr>
          <p:cNvPr id="45" name="MaskWM-D_64 sample 2 zoom"/>
          <p:cNvPicPr preferRelativeResize="0"/>
          <p:nvPr/>
        </p:nvPicPr>
        <p:blipFill>
          <a:blip r:embed="rId24"/>
          <a:stretch>
            <a:fillRect/>
          </a:stretch>
        </p:blipFill>
        <p:spPr>
          <a:xfrm>
            <a:off x="6071845" y="4544568"/>
            <a:ext cx="880110" cy="880110"/>
          </a:xfrm>
          <a:prstGeom prst="rect">
            <a:avLst/>
          </a:prstGeom>
        </p:spPr>
      </p:pic>
      <p:pic>
        <p:nvPicPr>
          <p:cNvPr id="46" name="MBRS crop-trained global sample 2 zoom"/>
          <p:cNvPicPr preferRelativeResize="0"/>
          <p:nvPr/>
        </p:nvPicPr>
        <p:blipFill>
          <a:blip r:embed="rId25"/>
          <a:stretch>
            <a:fillRect/>
          </a:stretch>
        </p:blipFill>
        <p:spPr>
          <a:xfrm>
            <a:off x="8310844" y="4544568"/>
            <a:ext cx="880110" cy="880110"/>
          </a:xfrm>
          <a:prstGeom prst="rect">
            <a:avLst/>
          </a:prstGeom>
        </p:spPr>
      </p:pic>
      <p:pic>
        <p:nvPicPr>
          <p:cNvPr id="47" name="Ours = Hard Local-Tail + global OKLab sample 2 zoom"/>
          <p:cNvPicPr preferRelativeResize="0"/>
          <p:nvPr/>
        </p:nvPicPr>
        <p:blipFill>
          <a:blip r:embed="rId26"/>
          <a:stretch>
            <a:fillRect/>
          </a:stretch>
        </p:blipFill>
        <p:spPr>
          <a:xfrm>
            <a:off x="10549844" y="4544568"/>
            <a:ext cx="880110" cy="880110"/>
          </a:xfrm>
          <a:prstGeom prst="rect">
            <a:avLst/>
          </a:prstGeom>
        </p:spPr>
      </p:pic>
      <p:sp>
        <p:nvSpPr>
          <p:cNvPr id="48" name="Text 48"/>
          <p:cNvSpPr/>
          <p:nvPr/>
        </p:nvSpPr>
        <p:spPr>
          <a:xfrm>
            <a:off x="27432" y="5474970"/>
            <a:ext cx="841248" cy="880110"/>
          </a:xfrm>
          <a:prstGeom prst="rect">
            <a:avLst/>
          </a:prstGeom>
          <a:noFill/>
        </p:spPr>
        <p:txBody>
          <a:bodyPr wrap="square" anchor="ctr" vert="vert270"/>
          <a:lstStyle/>
          <a:p>
            <a:pPr algn="ctr"/>
            <a:r>
              <a:rPr lang="en-US" sz="700" b="1">
                <a:solidFill>
                  <a:srgbClr val="66727D"/>
                </a:solidFill>
                <a:latin typeface="Arial"/>
              </a:rPr>
              <a:t>Residual ×10</a:t>
            </a:r>
            <a:endParaRPr lang="en-US" sz="700"/>
          </a:p>
        </p:txBody>
      </p:sp>
      <p:pic>
        <p:nvPicPr>
          <p:cNvPr id="49" name="Original sample 2 residual"/>
          <p:cNvPicPr preferRelativeResize="0"/>
          <p:nvPr/>
        </p:nvPicPr>
        <p:blipFill>
          <a:blip r:embed="rId27"/>
          <a:stretch>
            <a:fillRect/>
          </a:stretch>
        </p:blipFill>
        <p:spPr>
          <a:xfrm>
            <a:off x="1593845" y="5474970"/>
            <a:ext cx="880110" cy="880110"/>
          </a:xfrm>
          <a:prstGeom prst="rect">
            <a:avLst/>
          </a:prstGeom>
        </p:spPr>
      </p:pic>
      <p:pic>
        <p:nvPicPr>
          <p:cNvPr id="50" name="HiDDeN-64 sample 2 residual"/>
          <p:cNvPicPr preferRelativeResize="0"/>
          <p:nvPr/>
        </p:nvPicPr>
        <p:blipFill>
          <a:blip r:embed="rId28"/>
          <a:stretch>
            <a:fillRect/>
          </a:stretch>
        </p:blipFill>
        <p:spPr>
          <a:xfrm>
            <a:off x="3832845" y="5474970"/>
            <a:ext cx="880110" cy="880110"/>
          </a:xfrm>
          <a:prstGeom prst="rect">
            <a:avLst/>
          </a:prstGeom>
        </p:spPr>
      </p:pic>
      <p:pic>
        <p:nvPicPr>
          <p:cNvPr id="51" name="MaskWM-D_64 sample 2 residual"/>
          <p:cNvPicPr preferRelativeResize="0"/>
          <p:nvPr/>
        </p:nvPicPr>
        <p:blipFill>
          <a:blip r:embed="rId29"/>
          <a:stretch>
            <a:fillRect/>
          </a:stretch>
        </p:blipFill>
        <p:spPr>
          <a:xfrm>
            <a:off x="6071845" y="5474970"/>
            <a:ext cx="880110" cy="880110"/>
          </a:xfrm>
          <a:prstGeom prst="rect">
            <a:avLst/>
          </a:prstGeom>
        </p:spPr>
      </p:pic>
      <p:pic>
        <p:nvPicPr>
          <p:cNvPr id="52" name="MBRS crop-trained global sample 2 residual"/>
          <p:cNvPicPr preferRelativeResize="0"/>
          <p:nvPr/>
        </p:nvPicPr>
        <p:blipFill>
          <a:blip r:embed="rId30"/>
          <a:stretch>
            <a:fillRect/>
          </a:stretch>
        </p:blipFill>
        <p:spPr>
          <a:xfrm>
            <a:off x="8310844" y="5474970"/>
            <a:ext cx="880110" cy="880110"/>
          </a:xfrm>
          <a:prstGeom prst="rect">
            <a:avLst/>
          </a:prstGeom>
        </p:spPr>
      </p:pic>
      <p:pic>
        <p:nvPicPr>
          <p:cNvPr id="53" name="Ours = Hard Local-Tail + global OKLab sample 2 residual"/>
          <p:cNvPicPr preferRelativeResize="0"/>
          <p:nvPr/>
        </p:nvPicPr>
        <p:blipFill>
          <a:blip r:embed="rId31"/>
          <a:stretch>
            <a:fillRect/>
          </a:stretch>
        </p:blipFill>
        <p:spPr>
          <a:xfrm>
            <a:off x="10549844" y="5474970"/>
            <a:ext cx="880110" cy="880110"/>
          </a:xfrm>
          <a:prstGeom prst="rect">
            <a:avLst/>
          </a:prstGeom>
        </p:spPr>
      </p:pic>
      <p:sp>
        <p:nvSpPr>
          <p:cNvPr id="54" name="Text 54"/>
          <p:cNvSpPr/>
          <p:nvPr/>
        </p:nvSpPr>
        <p:spPr>
          <a:xfrm>
            <a:off x="960120" y="6437376"/>
            <a:ext cx="1110355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600" b="0">
                <a:solidFill>
                  <a:srgbClr val="66727D"/>
                </a:solidFill>
                <a:latin typeface="Arial"/>
              </a:rPr>
              <a:t>All four methods are shown at validation-calibrated matched-PSNR operating points. HiDDeN-64 and MaskWM-D_64 use frozen external checkpoints with only the global residual-strength scale adjusted. Residual maps use a shared scale within each sample and are amplified ×10 for visualization.</a:t>
            </a:r>
            <a:endParaRPr lang="en-US"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RS Figure Theme">
  <a:themeElements>
    <a:clrScheme name="MBRS">
      <a:dk1>
        <a:sysClr val="windowText" lastClr="000000"/>
      </a:dk1>
      <a:lt1>
        <a:sysClr val="window" lastClr="FFFFFF"/>
      </a:lt1>
      <a:dk2>
        <a:srgbClr val="202934"/>
      </a:dk2>
      <a:lt2>
        <a:srgbClr val="F5F7F9"/>
      </a:lt2>
      <a:accent1>
        <a:srgbClr val="3D78A8"/>
      </a:accent1>
      <a:accent2>
        <a:srgbClr val="C66A2C"/>
      </a:accent2>
      <a:accent3>
        <a:srgbClr val="4B8963"/>
      </a:accent3>
      <a:accent4>
        <a:srgbClr val="806BB3"/>
      </a:accent4>
      <a:accent5>
        <a:srgbClr val="E5483C"/>
      </a:accent5>
      <a:accent6>
        <a:srgbClr val="66727D"/>
      </a:accent6>
      <a:hlink>
        <a:srgbClr val="0563C1"/>
      </a:hlink>
      <a:folHlink>
        <a:srgbClr val="954F72"/>
      </a:folHlink>
    </a:clrScheme>
    <a:fontScheme name="MBRS">
      <a:majorFont>
        <a:latin typeface="Arial"/>
      </a:majorFont>
      <a:minorFont>
        <a:latin typeface="Arial"/>
      </a:minorFont>
    </a:fontScheme>
    <a:fmtScheme name="MBR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MBRS paper renderer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Figure 2 Qualitative Comparison</dc:title>
  <dc:subject>Editable MBRS qualitative comparison</dc:subject>
  <dc:creator>MBRS paper renderer</dc:creator>
</cp:coreProperties>
</file>